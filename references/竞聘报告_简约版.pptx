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36576"/>
          </a:xfrm>
          <a:prstGeom prst="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5029200" cy="6711696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 UI"/>
              </a:rPr>
              <a:t>产品体验官组长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CCDDFF"/>
                </a:solidFill>
                <a:latin typeface="Microsoft YaHei UI"/>
              </a:rPr>
              <a:t>竞聘报告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91840"/>
            <a:ext cx="32004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 UI"/>
              </a:rPr>
              <a:t>张良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EE"/>
                </a:solidFill>
                <a:latin typeface="Microsoft YaHei UI"/>
              </a:rPr>
              <a:t>共享中心 · 产品体验团队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BF0"/>
                </a:solidFill>
                <a:latin typeface="Microsoft YaHei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526E"/>
                </a:solidFill>
                <a:latin typeface="Microsoft YaHei UI"/>
              </a:rPr>
              <a:t>自我介绍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945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BF0"/>
                </a:solidFill>
                <a:latin typeface="Microsoft YaHei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526E"/>
                </a:solidFill>
                <a:latin typeface="Microsoft YaHei UI"/>
              </a:rPr>
              <a:t>核心优势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0175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BF0"/>
                </a:solidFill>
                <a:latin typeface="Microsoft YaHei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526E"/>
                </a:solidFill>
                <a:latin typeface="Microsoft YaHei UI"/>
              </a:rPr>
              <a:t>数据成果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8404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BF0"/>
                </a:solidFill>
                <a:latin typeface="Microsoft YaHei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526E"/>
                </a:solidFill>
                <a:latin typeface="Microsoft YaHei UI"/>
              </a:rPr>
              <a:t>AI创新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6634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BF0"/>
                </a:solidFill>
                <a:latin typeface="Microsoft YaHei U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754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526E"/>
                </a:solidFill>
                <a:latin typeface="Microsoft YaHei UI"/>
              </a:rPr>
              <a:t>成果展示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4864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BF0"/>
                </a:solidFill>
                <a:latin typeface="Microsoft YaHei U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526E"/>
                </a:solidFill>
                <a:latin typeface="Microsoft YaHei UI"/>
              </a:rPr>
              <a:t>未来规划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5760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000" b="1">
                <a:solidFill>
                  <a:srgbClr val="257BFF"/>
                </a:solidFill>
                <a:latin typeface="Microsoft YaHei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Microsoft YaHei U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6AD"/>
                </a:solidFill>
                <a:latin typeface="Microsoft YaHei UI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943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09728" cy="1371600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57BFF"/>
                </a:solidFill>
                <a:latin typeface="Microsoft YaHei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526E"/>
                </a:solidFill>
                <a:latin typeface="Microsoft YaHei UI"/>
              </a:rPr>
              <a:t>自我介绍与岗位认知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5943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09728" cy="1371600"/>
          </a:xfrm>
          <a:prstGeom prst="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C86C"/>
                </a:solidFill>
                <a:latin typeface="Microsoft YaHei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832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526E"/>
                </a:solidFill>
                <a:latin typeface="Microsoft YaHei UI"/>
              </a:rPr>
              <a:t>核心优势与自我评价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5943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109728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006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6B35"/>
                </a:solidFill>
                <a:latin typeface="Microsoft YaHei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937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526E"/>
                </a:solidFill>
                <a:latin typeface="Microsoft YaHei UI"/>
              </a:rPr>
              <a:t>工作产出与数据成果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463040"/>
            <a:ext cx="5943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1463040"/>
            <a:ext cx="109728" cy="1371600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16916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57BFF"/>
                </a:solidFill>
                <a:latin typeface="Microsoft YaHei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828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526E"/>
                </a:solidFill>
                <a:latin typeface="Microsoft YaHei UI"/>
              </a:rPr>
              <a:t>AI工具与创新产出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017520"/>
            <a:ext cx="5943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3017520"/>
            <a:ext cx="109728" cy="1371600"/>
          </a:xfrm>
          <a:prstGeom prst="rect">
            <a:avLst/>
          </a:prstGeom>
          <a:solidFill>
            <a:srgbClr val="44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32461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4526E"/>
                </a:solidFill>
                <a:latin typeface="Microsoft YaHei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3832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526E"/>
                </a:solidFill>
                <a:latin typeface="Microsoft YaHei UI"/>
              </a:rPr>
              <a:t>成果展示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4572000"/>
            <a:ext cx="5943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0" y="4572000"/>
            <a:ext cx="109728" cy="1371600"/>
          </a:xfrm>
          <a:prstGeom prst="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48006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C86C"/>
                </a:solidFill>
                <a:latin typeface="Microsoft YaHei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937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526E"/>
                </a:solidFill>
                <a:latin typeface="Microsoft YaHei UI"/>
              </a:rPr>
              <a:t>未来规划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7BFF"/>
                </a:solidFill>
                <a:latin typeface="Microsoft YaHei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icrosoft YaHei UI"/>
              </a:rPr>
              <a:t>自我介绍与岗位认知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84048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371600" cy="1371600"/>
          </a:xfrm>
          <a:prstGeom prst="round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 UI"/>
              </a:rPr>
              <a:t>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526E"/>
                </a:solidFill>
                <a:latin typeface="Microsoft YaHei UI"/>
              </a:rPr>
              <a:t>张良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7BFF"/>
                </a:solidFill>
                <a:latin typeface="Microsoft YaHei UI"/>
              </a:rPr>
              <a:t>产品体验官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3291840" cy="27432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6AD"/>
                </a:solidFill>
                <a:latin typeface="Microsoft YaHei UI"/>
              </a:rPr>
              <a:t>入职时间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26E"/>
                </a:solidFill>
                <a:latin typeface="Microsoft YaHei UI"/>
              </a:rPr>
              <a:t>2026年3月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6AD"/>
                </a:solidFill>
                <a:latin typeface="Microsoft YaHei UI"/>
              </a:rPr>
              <a:t>所属团队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26E"/>
                </a:solidFill>
                <a:latin typeface="Microsoft YaHei UI"/>
              </a:rPr>
              <a:t>共享中心·产品体验团队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6AD"/>
                </a:solidFill>
                <a:latin typeface="Microsoft YaHei UI"/>
              </a:rPr>
              <a:t>专注方向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26E"/>
                </a:solidFill>
                <a:latin typeface="Microsoft YaHei UI"/>
              </a:rPr>
              <a:t>商业化设计 / UI/UX优化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188720"/>
            <a:ext cx="24231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1188720"/>
            <a:ext cx="2423160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7BFF"/>
                </a:solidFill>
                <a:latin typeface="Microsoft YaHei UI"/>
              </a:rPr>
              <a:t>体验官的核心价值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1965960"/>
            <a:ext cx="2103120" cy="36576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1031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26E"/>
                </a:solidFill>
                <a:latin typeface="Microsoft YaHei UI"/>
              </a:rPr>
              <a:t>快速发现产品问题
推动体验升级
协助团队价值最大化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1188720"/>
            <a:ext cx="24231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86600" y="1188720"/>
            <a:ext cx="2423160" cy="109728"/>
          </a:xfrm>
          <a:prstGeom prst="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6C"/>
                </a:solidFill>
                <a:latin typeface="Microsoft YaHei UI"/>
              </a:rPr>
              <a:t>组长的核心职责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1965960"/>
            <a:ext cx="2103120" cy="36576"/>
          </a:xfrm>
          <a:prstGeom prst="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21031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26E"/>
                </a:solidFill>
                <a:latin typeface="Microsoft YaHei UI"/>
              </a:rPr>
              <a:t>带领团队多维度提升
产出质量与效率
帮助项目快速迭代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188720"/>
            <a:ext cx="24231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1188720"/>
            <a:ext cx="2423160" cy="109728"/>
          </a:xfrm>
          <a:prstGeom prst="rect">
            <a:avLst/>
          </a:prstGeom>
          <a:solidFill>
            <a:srgbClr val="44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526E"/>
                </a:solidFill>
                <a:latin typeface="Microsoft YaHei UI"/>
              </a:rPr>
              <a:t>我的竞聘优势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9800" y="1965960"/>
            <a:ext cx="2103120" cy="36576"/>
          </a:xfrm>
          <a:prstGeom prst="rect">
            <a:avLst/>
          </a:prstGeom>
          <a:solidFill>
            <a:srgbClr val="44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21031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26E"/>
                </a:solidFill>
                <a:latin typeface="Microsoft YaHei UI"/>
              </a:rPr>
              <a:t>管理能力 + 创新能力
+ 协作能力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7BFF"/>
                </a:solidFill>
                <a:latin typeface="Microsoft YaHei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icrosoft YaHei UI"/>
              </a:rPr>
              <a:t>核心优势与自我评价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10312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103120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1554480"/>
            <a:ext cx="731520" cy="731520"/>
          </a:xfrm>
          <a:prstGeom prst="round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642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7BFF"/>
                </a:solidFill>
                <a:latin typeface="Microsoft YaHei UI"/>
              </a:rPr>
              <a:t>工作能力强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26080"/>
            <a:ext cx="1645920" cy="3657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6324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526E"/>
                </a:solidFill>
                <a:latin typeface="Microsoft YaHei UI"/>
              </a:rPr>
              <a:t>快速适应岗位需求
建议采纳率组内前列
完成 SOP 1.0&amp;2.0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188720"/>
            <a:ext cx="210312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188720"/>
            <a:ext cx="2103120" cy="109728"/>
          </a:xfrm>
          <a:prstGeom prst="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7560" y="1554480"/>
            <a:ext cx="731520" cy="731520"/>
          </a:xfrm>
          <a:prstGeom prst="round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6642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423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6C"/>
                </a:solidFill>
                <a:latin typeface="Microsoft YaHei UI"/>
              </a:rPr>
              <a:t>学习能力强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926080"/>
            <a:ext cx="1645920" cy="3657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06324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526E"/>
                </a:solidFill>
                <a:latin typeface="Microsoft YaHei UI"/>
              </a:rPr>
              <a:t>入职1.5月完成
报告生成工具1个
团队Skill 3个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188720"/>
            <a:ext cx="210312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1188720"/>
            <a:ext cx="210312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23560" y="1554480"/>
            <a:ext cx="73152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6642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423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  <a:latin typeface="Microsoft YaHei UI"/>
              </a:rPr>
              <a:t>责任心强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60" y="2926080"/>
            <a:ext cx="1645920" cy="3657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306324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526E"/>
                </a:solidFill>
                <a:latin typeface="Microsoft YaHei UI"/>
              </a:rPr>
              <a:t>主动协助团队同事
主动参与项目处理
处理顽疾问题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1188720"/>
            <a:ext cx="210312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23760" y="1188720"/>
            <a:ext cx="2103120" cy="109728"/>
          </a:xfrm>
          <a:prstGeom prst="rect">
            <a:avLst/>
          </a:prstGeom>
          <a:solidFill>
            <a:srgbClr val="44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09560" y="1554480"/>
            <a:ext cx="731520" cy="731520"/>
          </a:xfrm>
          <a:prstGeom prst="roundRect">
            <a:avLst/>
          </a:prstGeom>
          <a:solidFill>
            <a:srgbClr val="44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16642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423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4526E"/>
                </a:solidFill>
                <a:latin typeface="Microsoft YaHei UI"/>
              </a:rPr>
              <a:t>沟通能力强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2926080"/>
            <a:ext cx="1645920" cy="3657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306324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526E"/>
                </a:solidFill>
                <a:latin typeface="Microsoft YaHei UI"/>
              </a:rPr>
              <a:t>代表团队完成3个项目
访谈会和需求池对接
跨团队协作经验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1188720"/>
            <a:ext cx="210312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9760" y="1188720"/>
            <a:ext cx="2103120" cy="109728"/>
          </a:xfrm>
          <a:prstGeom prst="rect">
            <a:avLst/>
          </a:prstGeom>
          <a:solidFill>
            <a:srgbClr val="889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195560" y="1554480"/>
            <a:ext cx="731520" cy="731520"/>
          </a:xfrm>
          <a:prstGeom prst="roundRect">
            <a:avLst/>
          </a:prstGeom>
          <a:solidFill>
            <a:srgbClr val="889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16642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423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896AD"/>
                </a:solidFill>
                <a:latin typeface="Microsoft YaHei UI"/>
              </a:rPr>
              <a:t>上进心强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38360" y="2926080"/>
            <a:ext cx="1645920" cy="3657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306324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526E"/>
                </a:solidFill>
                <a:latin typeface="Microsoft YaHei UI"/>
              </a:rPr>
              <a:t>不停止的脚步
对成长的渴望
持续学习与提升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7BFF"/>
                </a:solidFill>
                <a:latin typeface="Microsoft YaHei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icrosoft YaHei UI"/>
              </a:rPr>
              <a:t>工作产出与数据成果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5661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566160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57BFF"/>
                </a:solidFill>
                <a:latin typeface="Microsoft YaHei UI"/>
              </a:rPr>
              <a:t>70个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526E"/>
                </a:solidFill>
                <a:latin typeface="Microsoft YaHei UI"/>
              </a:rPr>
              <a:t>优化建议输出总量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5661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109728"/>
          </a:xfrm>
          <a:prstGeom prst="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630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C86C"/>
                </a:solidFill>
                <a:latin typeface="Microsoft YaHei UI"/>
              </a:rPr>
              <a:t>58个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526E"/>
                </a:solidFill>
                <a:latin typeface="Microsoft YaHei UI"/>
              </a:rPr>
              <a:t>建议被采纳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5661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56616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630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6B35"/>
                </a:solidFill>
                <a:latin typeface="Microsoft YaHei UI"/>
              </a:rPr>
              <a:t>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526E"/>
                </a:solidFill>
                <a:latin typeface="Microsoft YaHei UI"/>
              </a:rPr>
              <a:t>建议采纳率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Microsoft YaHei UI"/>
              </a:rPr>
              <a:t>参与体验项目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60520"/>
            <a:ext cx="2103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2103120" cy="73152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Microsoft YaHei UI"/>
              </a:rPr>
              <a:t>51吃瓜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160520"/>
            <a:ext cx="2103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1760" y="4160520"/>
            <a:ext cx="2103120" cy="73152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Microsoft YaHei UI"/>
              </a:rPr>
              <a:t>小蓝视频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4160520"/>
            <a:ext cx="2103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0" y="4160520"/>
            <a:ext cx="2103120" cy="73152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Microsoft YaHei UI"/>
              </a:rPr>
              <a:t>91短视频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4160520"/>
            <a:ext cx="2103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23760" y="4160520"/>
            <a:ext cx="2103120" cy="73152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Microsoft YaHei UI"/>
              </a:rPr>
              <a:t>海角社区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4160520"/>
            <a:ext cx="2103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4160520"/>
            <a:ext cx="2103120" cy="73152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Microsoft YaHei UI"/>
              </a:rPr>
              <a:t>51品茶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7BFF"/>
                </a:solidFill>
                <a:latin typeface="Microsoft YaHei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icrosoft YaHei UI"/>
              </a:rPr>
              <a:t>AI工具与创新产出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7432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743200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57BFF"/>
                </a:solidFill>
                <a:latin typeface="Microsoft YaHei UI"/>
              </a:rPr>
              <a:t>体验报告生成器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2377440" cy="3657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26E"/>
                </a:solidFill>
                <a:latin typeface="Microsoft YaHei UI"/>
              </a:rPr>
              <a:t>自动化生成结构化报告
增加体验报告可读性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669280"/>
            <a:ext cx="1828800" cy="365760"/>
          </a:xfrm>
          <a:prstGeom prst="round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效率提升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432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2743200" cy="109728"/>
          </a:xfrm>
          <a:prstGeom prst="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86C"/>
                </a:solidFill>
                <a:latin typeface="Microsoft YaHei UI"/>
              </a:rPr>
              <a:t>行业信息收集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011680"/>
            <a:ext cx="2377440" cy="3657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1945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26E"/>
                </a:solidFill>
                <a:latin typeface="Microsoft YaHei UI"/>
              </a:rPr>
              <a:t>TG机器人输出日报/周报/月报
简报+Excel详细报告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40" y="5669280"/>
            <a:ext cx="1828800" cy="365760"/>
          </a:xfrm>
          <a:prstGeom prst="round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5687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行业洞察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188720"/>
            <a:ext cx="27432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188720"/>
            <a:ext cx="274320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Microsoft YaHei UI"/>
              </a:rPr>
              <a:t>工作提醒机器人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011680"/>
            <a:ext cx="2377440" cy="3657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1945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26E"/>
                </a:solidFill>
                <a:latin typeface="Microsoft YaHei UI"/>
              </a:rPr>
              <a:t>TG群组每日工作提醒
精确跟踪每人进度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5669280"/>
            <a:ext cx="182880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5687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团队协作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188720"/>
            <a:ext cx="27432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1188720"/>
            <a:ext cx="2743200" cy="109728"/>
          </a:xfrm>
          <a:prstGeom prst="rect">
            <a:avLst/>
          </a:prstGeom>
          <a:solidFill>
            <a:srgbClr val="44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526E"/>
                </a:solidFill>
                <a:latin typeface="Microsoft YaHei UI"/>
              </a:rPr>
              <a:t>团队工作看板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011680"/>
            <a:ext cx="2377440" cy="3657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1945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26E"/>
                </a:solidFill>
                <a:latin typeface="Microsoft YaHei UI"/>
              </a:rPr>
              <a:t>HTML形式工作看板
历史产出+项目进度展示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5669280"/>
            <a:ext cx="1828800" cy="365760"/>
          </a:xfrm>
          <a:prstGeom prst="roundRect">
            <a:avLst/>
          </a:prstGeom>
          <a:solidFill>
            <a:srgbClr val="44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5687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可视化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7BFF"/>
                </a:solidFill>
                <a:latin typeface="Microsoft YaHei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icrosoft YaHei UI"/>
              </a:rPr>
              <a:t>成果展示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86C"/>
                </a:solidFill>
                <a:latin typeface="Microsoft YaHei UI"/>
              </a:rPr>
              <a:t>体验报告 - 示例一</a:t>
            </a:r>
          </a:p>
        </p:txBody>
      </p:sp>
      <p:pic>
        <p:nvPicPr>
          <p:cNvPr id="6" name="Picture 5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7BFF"/>
                </a:solidFill>
                <a:latin typeface="Microsoft YaHei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icrosoft YaHei UI"/>
              </a:rPr>
              <a:t>成果展示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86C"/>
                </a:solidFill>
                <a:latin typeface="Microsoft YaHei UI"/>
              </a:rPr>
              <a:t>体验报告 - 示例二</a:t>
            </a:r>
          </a:p>
        </p:txBody>
      </p:sp>
      <p:pic>
        <p:nvPicPr>
          <p:cNvPr id="6" name="Picture 5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7BFF"/>
                </a:solidFill>
                <a:latin typeface="Microsoft YaHei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icrosoft YaHei UI"/>
              </a:rPr>
              <a:t>成果展示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86C"/>
                </a:solidFill>
                <a:latin typeface="Microsoft YaHei UI"/>
              </a:rPr>
              <a:t>Agent 工具 - 示例一</a:t>
            </a:r>
          </a:p>
        </p:txBody>
      </p:sp>
      <p:pic>
        <p:nvPicPr>
          <p:cNvPr id="6" name="Picture 5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760720" cy="5486400"/>
          </a:xfrm>
          <a:prstGeom prst="rect">
            <a:avLst/>
          </a:prstGeom>
        </p:spPr>
      </p:pic>
      <p:pic>
        <p:nvPicPr>
          <p:cNvPr id="7" name="Picture 6" descr="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7607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7BFF"/>
                </a:solidFill>
                <a:latin typeface="Microsoft YaHei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icrosoft YaHei UI"/>
              </a:rPr>
              <a:t>成果展示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86C"/>
                </a:solidFill>
                <a:latin typeface="Microsoft YaHei UI"/>
              </a:rPr>
              <a:t>Agent 工具 - 示例二</a:t>
            </a:r>
          </a:p>
        </p:txBody>
      </p:sp>
      <p:pic>
        <p:nvPicPr>
          <p:cNvPr id="6" name="Picture 5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760720" cy="5486400"/>
          </a:xfrm>
          <a:prstGeom prst="rect">
            <a:avLst/>
          </a:prstGeom>
        </p:spPr>
      </p:pic>
      <p:pic>
        <p:nvPicPr>
          <p:cNvPr id="7" name="Picture 6" descr="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7607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7BFF"/>
                </a:solidFill>
                <a:latin typeface="Microsoft YaHei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icrosoft YaHei UI"/>
              </a:rPr>
              <a:t>未来规划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BF0"/>
                </a:solidFill>
                <a:latin typeface="Microsoft YaHei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7BFF"/>
                </a:solidFill>
                <a:latin typeface="Microsoft YaHei UI"/>
              </a:rPr>
              <a:t>提升团队效能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97480"/>
            <a:ext cx="3383280" cy="36576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26E"/>
                </a:solidFill>
                <a:latin typeface="Microsoft YaHei UI"/>
              </a:rPr>
              <a:t>不断创造和优化 Agent，利用 AI 优势处理重复
耗时工作，优化极致工作流程，使每步工作都与效率挂钩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109728"/>
          </a:xfrm>
          <a:prstGeom prst="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BF0"/>
                </a:solidFill>
                <a:latin typeface="Microsoft YaHei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6C"/>
                </a:solidFill>
                <a:latin typeface="Microsoft YaHei UI"/>
              </a:rPr>
              <a:t>扩展专业能力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697480"/>
            <a:ext cx="3383280" cy="36576"/>
          </a:xfrm>
          <a:prstGeom prst="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8803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26E"/>
                </a:solidFill>
                <a:latin typeface="Microsoft YaHei UI"/>
              </a:rPr>
              <a:t>体验更多产品和竞品，发现优劣势；探索新玩法、
新技术和新体验；形成可标准化的用户体验研究规范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36576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657600" cy="109728"/>
          </a:xfrm>
          <a:prstGeom prst="rect">
            <a:avLst/>
          </a:prstGeom>
          <a:solidFill>
            <a:srgbClr val="44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5087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BF0"/>
                </a:solidFill>
                <a:latin typeface="Microsoft YaHei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26E"/>
                </a:solidFill>
                <a:latin typeface="Microsoft YaHei UI"/>
              </a:rPr>
              <a:t>推动团队成长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697480"/>
            <a:ext cx="3383280" cy="36576"/>
          </a:xfrm>
          <a:prstGeom prst="rect">
            <a:avLst/>
          </a:prstGeom>
          <a:solidFill>
            <a:srgbClr val="44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8803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26E"/>
                </a:solidFill>
                <a:latin typeface="Microsoft YaHei UI"/>
              </a:rPr>
              <a:t>建立分享会机制（技能/工具分享）；探索团队协作
规范，形成 1+1&gt;2 效果；与产品团队跨团队联动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44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48463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1371600"/>
            <a:ext cx="4846320" cy="109728"/>
          </a:xfrm>
          <a:prstGeom prst="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011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44526E"/>
                </a:solidFill>
                <a:latin typeface="Microsoft YaHei UI"/>
              </a:rP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0175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57BFF"/>
                </a:solidFill>
                <a:latin typeface="Microsoft YaHei UI"/>
              </a:rPr>
              <a:t>期待与团队共同成长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749039"/>
            <a:ext cx="3017520" cy="36576"/>
          </a:xfrm>
          <a:prstGeom prst="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96AD"/>
                </a:solidFill>
                <a:latin typeface="Microsoft YaHei UI"/>
              </a:rPr>
              <a:t>张良 · 共享中心 · 产品体验团队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2286000" cy="2286000"/>
          </a:xfrm>
          <a:prstGeom prst="round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3657600"/>
            <a:ext cx="2286000" cy="2286000"/>
          </a:xfrm>
          <a:prstGeom prst="round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914400" cy="914400"/>
          </a:xfrm>
          <a:prstGeom prst="roundRect">
            <a:avLst/>
          </a:prstGeom>
          <a:solidFill>
            <a:srgbClr val="2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0" y="1371600"/>
            <a:ext cx="914400" cy="914400"/>
          </a:xfrm>
          <a:prstGeom prst="roundRect">
            <a:avLst/>
          </a:prstGeom>
          <a:solidFill>
            <a:srgbClr val="00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