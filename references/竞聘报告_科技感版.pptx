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0"/>
            <a:ext cx="3044952" cy="1828800"/>
          </a:xfrm>
          <a:prstGeom prst="roundRect">
            <a:avLst/>
          </a:prstGeom>
          <a:solidFill>
            <a:srgbClr val="006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0" y="0"/>
            <a:ext cx="2130552" cy="1371600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Microsoft YaHei UI"/>
              </a:rPr>
              <a:t>产品体验官组长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0D4FF"/>
                </a:solidFill>
                <a:latin typeface="Microsoft YaHei UI"/>
              </a:rPr>
              <a:t>竞聘报告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657600" cy="54864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BBDD"/>
                </a:solidFill>
                <a:latin typeface="Microsoft YaHei UI"/>
              </a:rPr>
              <a:t>张良  |  共享中心 · 产品体验团队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5669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800" b="1">
                <a:solidFill>
                  <a:srgbClr val="003066"/>
                </a:solidFill>
                <a:latin typeface="Microsoft YaHei UI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6699"/>
                </a:solidFill>
                <a:latin typeface="Microsoft YaHei UI"/>
              </a:rPr>
              <a:t>CONTENTS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9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 U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A8FF"/>
                </a:solidFill>
                <a:latin typeface="Microsoft YaHei U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6688"/>
                </a:solidFill>
                <a:latin typeface="Microsoft YaHei UI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88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A8FF"/>
                </a:solidFill>
                <a:latin typeface="Microsoft YaHei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618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 UI"/>
              </a:rPr>
              <a:t>自我介绍与岗位认知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45920"/>
            <a:ext cx="6858000" cy="18288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848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 UI"/>
              </a:rPr>
              <a:t>核心优势与自我评价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468880"/>
            <a:ext cx="6858000" cy="18288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CCAA"/>
                </a:solidFill>
                <a:latin typeface="Microsoft YaHei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077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 UI"/>
              </a:rPr>
              <a:t>工作产出与数据成果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291840"/>
            <a:ext cx="6858000" cy="18288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B800"/>
                </a:solidFill>
                <a:latin typeface="Microsoft YaHei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307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 UI"/>
              </a:rPr>
              <a:t>AI工具与创新产出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114800"/>
            <a:ext cx="6858000" cy="18288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88"/>
                </a:solidFill>
                <a:latin typeface="Microsoft YaHei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537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 UI"/>
              </a:rPr>
              <a:t>成果展示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937760"/>
            <a:ext cx="6858000" cy="18288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B88FF"/>
                </a:solidFill>
                <a:latin typeface="Microsoft YaHei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7667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 UI"/>
              </a:rPr>
              <a:t>未来规划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5760720"/>
            <a:ext cx="6858000" cy="18288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自我介绍与岗位认知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389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463040" cy="1463040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 UI"/>
              </a:rPr>
              <a:t>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 UI"/>
              </a:rPr>
              <a:t>张良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40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  <a:latin typeface="Microsoft YaHei UI"/>
              </a:rPr>
              <a:t>产品体验官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BB"/>
                </a:solidFill>
                <a:latin typeface="Microsoft YaHei UI"/>
              </a:rPr>
              <a:t>入职时间：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 UI"/>
              </a:rPr>
              <a:t>2026年3月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BB"/>
                </a:solidFill>
                <a:latin typeface="Microsoft YaHei UI"/>
              </a:rPr>
              <a:t>所属团队：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 UI"/>
              </a:rPr>
              <a:t>共享中心·产品体验团队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BB"/>
                </a:solidFill>
                <a:latin typeface="Microsoft YaHei UI"/>
              </a:rPr>
              <a:t>专注方向：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 UI"/>
              </a:rPr>
              <a:t>商业化设计 / UI/UX优化 / 内容分析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54864" cy="49377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1463040"/>
            <a:ext cx="2103120" cy="7315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FF"/>
                </a:solidFill>
                <a:latin typeface="Microsoft YaHei UI"/>
              </a:rPr>
              <a:t>体验官的核心价值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24028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icrosoft YaHei UI"/>
              </a:rPr>
              <a:t>快速发现产品问题
推动体验升级
协助团队将产品价值最大化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1463040"/>
            <a:ext cx="21031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Microsoft YaHei UI"/>
              </a:rPr>
              <a:t>组长的核心职责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24028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icrosoft YaHei UI"/>
              </a:rPr>
              <a:t>带领团队从多维度
提升产出质量与效率
帮助项目快速迭代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1463040"/>
            <a:ext cx="2103120" cy="7315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800"/>
                </a:solidFill>
                <a:latin typeface="Microsoft YaHei UI"/>
              </a:rPr>
              <a:t>我的竞聘优势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240280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DD"/>
                </a:solidFill>
                <a:latin typeface="Microsoft YaHei UI"/>
              </a:rPr>
              <a:t>管理能力
创新能力
协作能力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核心优势与自我评价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103120" cy="914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828800"/>
            <a:ext cx="640080" cy="640080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A8FF"/>
                </a:solidFill>
                <a:latin typeface="Microsoft YaHei UI"/>
              </a:rPr>
              <a:t>工作能力强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6324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快速适应岗位需求
建议采纳率组内前列
完成 SOP 1.0 和 2.0 版本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463040"/>
            <a:ext cx="210312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640080" cy="6400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  <a:latin typeface="Microsoft YaHei UI"/>
              </a:rPr>
              <a:t>学习能力强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06324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入职 1.5 月完成
报告生成工具 1 个
团队相关 Skill 3 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463040"/>
            <a:ext cx="2103120" cy="91440"/>
          </a:xfrm>
          <a:prstGeom prst="rect">
            <a:avLst/>
          </a:prstGeom>
          <a:solidFill>
            <a:srgbClr val="00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1828800"/>
            <a:ext cx="640080" cy="640080"/>
          </a:xfrm>
          <a:prstGeom prst="roundRect">
            <a:avLst/>
          </a:prstGeom>
          <a:solidFill>
            <a:srgbClr val="00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CAA"/>
                </a:solidFill>
                <a:latin typeface="Microsoft YaHei UI"/>
              </a:rPr>
              <a:t>责任心强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06324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完成本职工作同时
主动协助团队同事
主动提出协助项目处理顽疾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1463040"/>
            <a:ext cx="2103120" cy="914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80" y="1828800"/>
            <a:ext cx="640080" cy="64008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B800"/>
                </a:solidFill>
                <a:latin typeface="Microsoft YaHei UI"/>
              </a:rPr>
              <a:t>沟通能力强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06324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代表团队完成 3 个项目
访谈会和需求池对接
跨团队协作经验丰富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1463040"/>
            <a:ext cx="210312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463040"/>
            <a:ext cx="2103120" cy="9144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241280" y="1828800"/>
            <a:ext cx="640080" cy="640080"/>
          </a:xfrm>
          <a:prstGeom prst="round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1920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88FF"/>
                </a:solidFill>
                <a:latin typeface="Microsoft YaHei UI"/>
              </a:rPr>
              <a:t>上进心强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06324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不停止的脚步
对成长的渴望
持续学习与提升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工作产出与数据成果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474720" cy="237744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474720" cy="914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A8FF"/>
                </a:solidFill>
                <a:latin typeface="Microsoft YaHei UI"/>
              </a:rPr>
              <a:t>70个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 UI"/>
              </a:rPr>
              <a:t>优化建议输出总量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474720" cy="237744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474720" cy="914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B800"/>
                </a:solidFill>
                <a:latin typeface="Microsoft YaHei UI"/>
              </a:rPr>
              <a:t>58个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 UI"/>
              </a:rPr>
              <a:t>建议被采纳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474720" cy="237744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91440"/>
          </a:xfrm>
          <a:prstGeom prst="rect">
            <a:avLst/>
          </a:prstGeom>
          <a:solidFill>
            <a:srgbClr val="00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CCAA"/>
                </a:solidFill>
                <a:latin typeface="Microsoft YaHei UI"/>
              </a:rPr>
              <a:t>83%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 UI"/>
              </a:rPr>
              <a:t>建议采纳率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FF"/>
                </a:solidFill>
                <a:latin typeface="Microsoft YaHei UI"/>
              </a:rPr>
              <a:t>参与体验项目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11338560" cy="27432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2011680" cy="7315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572000"/>
            <a:ext cx="73152" cy="7315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FF"/>
                </a:solidFill>
                <a:latin typeface="Microsoft YaHei UI"/>
              </a:rPr>
              <a:t>51吃瓜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4572000"/>
            <a:ext cx="2011680" cy="7315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4572000"/>
            <a:ext cx="73152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 UI"/>
              </a:rPr>
              <a:t>小蓝视频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572000"/>
            <a:ext cx="2011680" cy="7315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4572000"/>
            <a:ext cx="73152" cy="7315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800"/>
                </a:solidFill>
                <a:latin typeface="Microsoft YaHei UI"/>
              </a:rPr>
              <a:t>91短视频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4572000"/>
            <a:ext cx="2011680" cy="7315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3760" y="4572000"/>
            <a:ext cx="73152" cy="731520"/>
          </a:xfrm>
          <a:prstGeom prst="rect">
            <a:avLst/>
          </a:prstGeom>
          <a:solidFill>
            <a:srgbClr val="FF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88"/>
                </a:solidFill>
                <a:latin typeface="Microsoft YaHei UI"/>
              </a:rPr>
              <a:t>海角社区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4572000"/>
            <a:ext cx="2011680" cy="731520"/>
          </a:xfrm>
          <a:prstGeom prst="round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4572000"/>
            <a:ext cx="73152" cy="731520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B88FF"/>
                </a:solidFill>
                <a:latin typeface="Microsoft YaHei UI"/>
              </a:rPr>
              <a:t>51品茶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AI工具与创新产出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74320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743200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1783080"/>
            <a:ext cx="914400" cy="9144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A8FF"/>
                </a:solidFill>
                <a:latin typeface="Microsoft YaHei U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A8FF"/>
                </a:solidFill>
                <a:latin typeface="Microsoft YaHei UI"/>
              </a:rPr>
              <a:t>体验报告生成器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429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自动化生成结构化报告
大大增加体验报告可读性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669280"/>
            <a:ext cx="1828800" cy="320040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Microsoft YaHei UI"/>
              </a:rPr>
              <a:t>效率提升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74320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63040"/>
            <a:ext cx="2743200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1783080"/>
            <a:ext cx="914400" cy="9144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B800"/>
                </a:solidFill>
                <a:latin typeface="Microsoft YaHei U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B800"/>
                </a:solidFill>
                <a:latin typeface="Microsoft YaHei UI"/>
              </a:rPr>
              <a:t>成人行业信息收集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429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TG机器人输出日报/周报/月报
简报+Excel详细报告形式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40" y="5669280"/>
            <a:ext cx="1828800" cy="320040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Microsoft YaHei UI"/>
              </a:rPr>
              <a:t>行业洞察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63040"/>
            <a:ext cx="274320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63040"/>
            <a:ext cx="2743200" cy="109728"/>
          </a:xfrm>
          <a:prstGeom prst="rect">
            <a:avLst/>
          </a:prstGeom>
          <a:solidFill>
            <a:srgbClr val="00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8040" y="1783080"/>
            <a:ext cx="914400" cy="9144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CAA"/>
                </a:solidFill>
                <a:latin typeface="Microsoft YaHei UI"/>
              </a:rP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CAA"/>
                </a:solidFill>
                <a:latin typeface="Microsoft YaHei UI"/>
              </a:rPr>
              <a:t>团队工作提醒机器人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429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TG群组每日工作提醒
精确到每个人的进度跟踪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5669280"/>
            <a:ext cx="1828800" cy="320040"/>
          </a:xfrm>
          <a:prstGeom prst="roundRect">
            <a:avLst/>
          </a:prstGeom>
          <a:solidFill>
            <a:srgbClr val="00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Microsoft YaHei UI"/>
              </a:rPr>
              <a:t>团队协作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463040"/>
            <a:ext cx="2743200" cy="493776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463040"/>
            <a:ext cx="2743200" cy="109728"/>
          </a:xfrm>
          <a:prstGeom prst="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49840" y="1783080"/>
            <a:ext cx="914400" cy="9144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88FF"/>
                </a:solidFill>
                <a:latin typeface="Microsoft YaHei UI"/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88FF"/>
                </a:solidFill>
                <a:latin typeface="Microsoft YaHei UI"/>
              </a:rPr>
              <a:t>团队工作看板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429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BCCDD"/>
                </a:solidFill>
                <a:latin typeface="Microsoft YaHei UI"/>
              </a:rPr>
              <a:t>HTML形式工作看板
历史产出汇总+项目进度展示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5669280"/>
            <a:ext cx="1828800" cy="320040"/>
          </a:xfrm>
          <a:prstGeom prst="roundRect">
            <a:avLst/>
          </a:prstGeom>
          <a:solidFill>
            <a:srgbClr val="BB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Microsoft YaHei UI"/>
              </a:rPr>
              <a:t>可视化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FF"/>
                </a:solidFill>
                <a:latin typeface="Microsoft YaHei UI"/>
              </a:rPr>
              <a:t>体验报告 - 示例一</a:t>
            </a:r>
          </a:p>
        </p:txBody>
      </p:sp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9418320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FF"/>
                </a:solidFill>
                <a:latin typeface="Microsoft YaHei UI"/>
              </a:rPr>
              <a:t>体验报告 - 示例二</a:t>
            </a:r>
          </a:p>
        </p:txBody>
      </p:sp>
      <p:pic>
        <p:nvPicPr>
          <p:cNvPr id="7" name="Picture 6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9418320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FF"/>
                </a:solidFill>
                <a:latin typeface="Microsoft YaHei UI"/>
              </a:rPr>
              <a:t>Agent 工具 - 示例一</a:t>
            </a:r>
          </a:p>
        </p:txBody>
      </p:sp>
      <p:pic>
        <p:nvPicPr>
          <p:cNvPr id="7" name="Picture 6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5760720" cy="5212080"/>
          </a:xfrm>
          <a:prstGeom prst="rect">
            <a:avLst/>
          </a:prstGeom>
        </p:spPr>
      </p:pic>
      <p:pic>
        <p:nvPicPr>
          <p:cNvPr id="8" name="Picture 7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760720" cy="5212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FF"/>
                </a:solidFill>
                <a:latin typeface="Microsoft YaHei UI"/>
              </a:rPr>
              <a:t>Agent 工具 - 示例二</a:t>
            </a:r>
          </a:p>
        </p:txBody>
      </p:sp>
      <p:pic>
        <p:nvPicPr>
          <p:cNvPr id="7" name="Picture 6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5760720" cy="5212080"/>
          </a:xfrm>
          <a:prstGeom prst="rect">
            <a:avLst/>
          </a:prstGeom>
        </p:spPr>
      </p:pic>
      <p:pic>
        <p:nvPicPr>
          <p:cNvPr id="8" name="Picture 7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760720" cy="5212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8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Microsoft YaHei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未来规划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475488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3A5A"/>
                </a:solidFill>
                <a:latin typeface="Microsoft YaHei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FF"/>
                </a:solidFill>
                <a:latin typeface="Microsoft YaHei UI"/>
              </a:rPr>
              <a:t>提升团队效能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329184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DD"/>
                </a:solidFill>
                <a:latin typeface="Microsoft YaHei UI"/>
              </a:rPr>
              <a:t>不断创造和优化 Agent，利用 AI 优势
处理重复耗时工作，优化极致工作流程
使每步工作处理都与效率挂钩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475488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10972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3A5A"/>
                </a:solidFill>
                <a:latin typeface="Microsoft YaHei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800"/>
                </a:solidFill>
                <a:latin typeface="Microsoft YaHei UI"/>
              </a:rPr>
              <a:t>扩展专业能力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788920"/>
            <a:ext cx="32918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9260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DD"/>
                </a:solidFill>
                <a:latin typeface="Microsoft YaHei UI"/>
              </a:rPr>
              <a:t>体验更多产品和竞品，发现优劣势
探索新玩法、新技术和新体验
探索用户体验研究方法，形成可标准化规范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566160" cy="4754880"/>
          </a:xfrm>
          <a:prstGeom prst="rect">
            <a:avLst/>
          </a:prstGeom>
          <a:solidFill>
            <a:srgbClr val="1A2A4A"/>
          </a:solidFill>
          <a:ln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566160" cy="109728"/>
          </a:xfrm>
          <a:prstGeom prst="rect">
            <a:avLst/>
          </a:prstGeom>
          <a:solidFill>
            <a:srgbClr val="00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691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3A5A"/>
                </a:solidFill>
                <a:latin typeface="Microsoft YaHei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CAA"/>
                </a:solidFill>
                <a:latin typeface="Microsoft YaHei UI"/>
              </a:rPr>
              <a:t>推动团队成长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788920"/>
            <a:ext cx="3291840" cy="36576"/>
          </a:xfrm>
          <a:prstGeom prst="rect">
            <a:avLst/>
          </a:prstGeom>
          <a:solidFill>
            <a:srgbClr val="00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9260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DD"/>
                </a:solidFill>
                <a:latin typeface="Microsoft YaHei UI"/>
              </a:rPr>
              <a:t>建立分享会机制（技能/工具分享）
探索团队协作规范，形成 1+1&gt;2 效果
跨团队协作，与产品团队联动处理问题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914400"/>
            <a:ext cx="3931920" cy="3931920"/>
          </a:xfrm>
          <a:prstGeom prst="roundRect">
            <a:avLst/>
          </a:prstGeom>
          <a:solidFill>
            <a:srgbClr val="09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0" y="1371600"/>
            <a:ext cx="3017520" cy="3017520"/>
          </a:xfrm>
          <a:prstGeom prst="roundRect">
            <a:avLst/>
          </a:prstGeom>
          <a:solidFill>
            <a:srgbClr val="004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828800"/>
            <a:ext cx="2103120" cy="2103120"/>
          </a:xfrm>
          <a:prstGeom prst="round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icrosoft YaHei UI"/>
              </a:rP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D4FF"/>
                </a:solidFill>
                <a:latin typeface="Microsoft YaHei UI"/>
              </a:rPr>
              <a:t>期待与团队共同成长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864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7799"/>
                </a:solidFill>
                <a:latin typeface="Microsoft YaHei UI"/>
              </a:rPr>
              <a:t>张良 · 共享中心 · 产品体验团队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